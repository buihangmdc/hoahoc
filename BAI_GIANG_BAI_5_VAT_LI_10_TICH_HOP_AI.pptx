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VẬT LÍ 10 - BỘ SÁCH GDPT 2018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BÀI 5: TỐC ĐỘ VÀ VẬN TỐC</a:t>
            </a:r>
          </a:p>
          <a:p>
            <a:pPr>
              <a:spcBef>
                <a:spcPts val="1500"/>
              </a:spcBef>
              <a:defRPr sz="1800" b="1">
                <a:solidFill>
                  <a:srgbClr val="C00000"/>
                </a:solidFill>
              </a:defRPr>
            </a:pPr>
            <a:r>
              <a:t>CHUYÊN ĐỀ: GIẢI MÃ NGUYÊN LÝ CAMERA AI GIÁM SÁT TỐC ĐỘ GIAO THÔNG</a:t>
            </a:r>
          </a:p>
          <a:p>
            <a:pPr>
              <a:spcBef>
                <a:spcPts val="4000"/>
              </a:spcBef>
              <a:defRPr sz="1400">
                <a:solidFill>
                  <a:srgbClr val="FFFFFF"/>
                </a:solidFill>
              </a:defRPr>
            </a:pPr>
            <a:r>
              <a:t>Giáo viên thực hiện: .............................. | Tổ: Vật lí - Công nghệ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VẬT LÍ 10 - CHƯƠNG II: ĐỘNG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KHỞI ĐỘNG: BÍ ẨN CAMERA AI PHẠT NGUỘI GIAO THÔNG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2060"/>
                </a:solidFill>
              </a:defRPr>
            </a:pPr>
            <a:r>
              <a:t>TÌNH HUỐNG THỰC TẾ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• Trên các tuyến cao tốc hiện đại, không có CSGT cầm súng bắn tốc độ trực tiếp.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• Hệ thống Camera AI gắn trên cột cao tự động "bắt" đúng xe chạy quá tốc độ, tự động đọc biển số và gửi giấy phạt nguội về tận nhà.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• Tại sao mắt điện tử của Camera AI lại biết xe chạy nhanh hay chậm?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C00000"/>
                </a:solidFill>
              </a:defRPr>
            </a:pPr>
            <a:r>
              <a:t>CÂU HỎI THẢO LUẬN NHANH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1. Để biết một xe chạy nhanh hay chậm, ta cần đo những đại lượng Vật lí nào?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2. Camera chỉ ghi nhận các hình ảnh (Video), làm thế nào máy tính quy đổi hình ảnh ra số km/h?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--&gt; BÀI HỌC HÔM NAY SẼ GIÚP CHÚNG TA GIẢI MÃ BÀI TOÁN NÀY!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VẬT LÍ 10 - CHƯƠNG II: ĐỘNG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I. TỐC ĐỘ TRUNG BÌNH VÀ TỐC ĐỘ TỨC THỜI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2060"/>
                </a:solidFill>
              </a:defRPr>
            </a:pPr>
            <a:r>
              <a:t>1. TỐC ĐỘ TRUNG BÌNH (v_tb)</a:t>
            </a:r>
          </a:p>
          <a:p>
            <a:pPr>
              <a:spcBef>
                <a:spcPts val="1000"/>
              </a:spcBef>
              <a:defRPr b="1" sz="1600">
                <a:solidFill>
                  <a:srgbClr val="C00000"/>
                </a:solidFill>
              </a:defRPr>
            </a:pPr>
            <a:r>
              <a:t>• Công thức: v_tb = s / t</a:t>
            </a:r>
          </a:p>
          <a:p>
            <a:pPr>
              <a:spcBef>
                <a:spcPts val="600"/>
              </a:spcBef>
              <a:defRPr sz="1300"/>
            </a:pPr>
            <a:r>
              <a:t>- s: Quãng đường vật đi được (m, km)</a:t>
            </a:r>
          </a:p>
          <a:p>
            <a:pPr>
              <a:spcBef>
                <a:spcPts val="600"/>
              </a:spcBef>
              <a:defRPr sz="1300"/>
            </a:pPr>
            <a:r>
              <a:t>- t: Thời gian chuyển động (s, h)</a:t>
            </a:r>
          </a:p>
          <a:p>
            <a:pPr>
              <a:spcBef>
                <a:spcPts val="600"/>
              </a:spcBef>
              <a:defRPr sz="1300"/>
            </a:pPr>
            <a:r>
              <a:t>- Ý nghĩa: Đặc trưng cho mức độ chuyển động nhanh hay chậm của vật trên cả quãng đường.</a:t>
            </a:r>
          </a:p>
          <a:p>
            <a:pPr>
              <a:spcBef>
                <a:spcPts val="600"/>
              </a:spcBef>
              <a:defRPr sz="1300"/>
            </a:pPr>
            <a:r>
              <a:t>- Ví dụ: Ô tô đi Hà Nội - Hải Phòng 105 km hết 1,5 h -&gt; v_tb = 70 km/h.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2060"/>
                </a:solidFill>
              </a:defRPr>
            </a:pPr>
            <a:r>
              <a:t>2. TỐC ĐỘ TỨC THỜI (v)</a:t>
            </a:r>
          </a:p>
          <a:p>
            <a:pPr>
              <a:spcBef>
                <a:spcPts val="1000"/>
              </a:spcBef>
              <a:defRPr b="1" sz="1600">
                <a:solidFill>
                  <a:srgbClr val="C00000"/>
                </a:solidFill>
              </a:defRPr>
            </a:pPr>
            <a:r>
              <a:t>• Công thức: v = Δs / Δt (Δt rất nhỏ)</a:t>
            </a:r>
          </a:p>
          <a:p>
            <a:pPr>
              <a:spcBef>
                <a:spcPts val="600"/>
              </a:spcBef>
              <a:defRPr sz="1300"/>
            </a:pPr>
            <a:r>
              <a:t>- Khái niệm: Là tốc độ tại một thời điểm hoặc tại một vị trí xác định.</a:t>
            </a:r>
          </a:p>
          <a:p>
            <a:pPr>
              <a:spcBef>
                <a:spcPts val="600"/>
              </a:spcBef>
              <a:defRPr sz="1300"/>
            </a:pPr>
            <a:r>
              <a:t>- Thiết bị đo: Đồng hồ tốc kế (Speedometer) gắn trên xe máy, ô tô.</a:t>
            </a:r>
          </a:p>
          <a:p>
            <a:pPr>
              <a:spcBef>
                <a:spcPts val="600"/>
              </a:spcBef>
              <a:defRPr sz="1300"/>
            </a:pPr>
            <a:r>
              <a:t>- Đặc điểm: Cho biết tại tích tắc đó xe đang đi với tốc độ bao nhiêu (dùng để bắn tốc độ).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VẬT LÍ 10 - CHƯƠNG II: ĐỘNG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II. PHÂN BIỆT TỐC ĐỘ VÀ VẬN TỐC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950976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TỐC ĐỘ (Speed)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VẬN TỐC (Velocity)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Bản chất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Đại lượng vô hướng (chỉ có độ lớn)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Đại lượng vectơ (có hướng + độ lớn)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Công thức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v = s / t (theo quãng đường 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v = d / Δt (theo độ dịch chuyển 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Luôn dương hoặc bằng 0 (v ≥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Có thể dương, âm hoặc bằng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Cho biết mức độ nhanh chậm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Cho biết nhanh chậm VÀ hướng chuyển động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TÍCH HỢP GIÁO DỤC TRÍ TUỆ NHÂN TẠO (AI)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CORNER: NGUYÊN LÝ CAMERA AI NHẬN DIỆN VÀ ĐO TỐC ĐỘ XE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C00000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b="1" sz="1400">
                <a:solidFill>
                  <a:srgbClr val="002060"/>
                </a:solidFill>
              </a:defRPr>
            </a:pPr>
            <a:r>
              <a:t>BƯỚC 1: NHẬN DIỆN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AI quét video, vẽ khung Bounding Box quanh xe &amp; đọc biển số (OCR).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C00000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b="1" sz="1400">
                <a:solidFill>
                  <a:srgbClr val="002060"/>
                </a:solidFill>
              </a:defRPr>
            </a:pPr>
            <a:r>
              <a:t>BƯỚC 2: HIỆU CHUẨN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Hệ thống nạp sẵn khoảng cách thực tế giữa 2 mốc trên đường (s).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C00000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b="1" sz="1400">
                <a:solidFill>
                  <a:srgbClr val="002060"/>
                </a:solidFill>
              </a:defRPr>
            </a:pPr>
            <a:r>
              <a:t>BƯỚC 3: ĐO THỜI GIAN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AI đếm số khung hình (Frames) xe qua 2 mốc -&gt; Tính thời gian Δt.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C00000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b="1" sz="1400">
                <a:solidFill>
                  <a:srgbClr val="002060"/>
                </a:solidFill>
              </a:defRPr>
            </a:pPr>
            <a:r>
              <a:t>BƯỚC 4: TÍNH TOÁN &amp; PHẠT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AI áp dụng v = s / Δt. Nếu v &gt; v_max -&gt; Kích hoạt chụp ảnh phạt nguội.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VẬT LÍ 10 - CHƯƠNG II: ĐỘNG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THỬ THÁCH: BẠN LÀ KỸ SƯ DỮ LIỆU AI PHẠT NGUỘI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C00000"/>
                </a:solidFill>
              </a:defRPr>
            </a:pPr>
            <a:r>
              <a:t>ĐỀ BÀI THỰC HÀNH NHÓM (PHIẾU HỌC TẬP SỐ 1)</a:t>
            </a:r>
          </a:p>
          <a:p>
            <a:pPr>
              <a:spcBef>
                <a:spcPts val="600"/>
              </a:spcBef>
              <a:defRPr sz="1350"/>
            </a:pPr>
            <a:r>
              <a:t>• Dữ liệu hệ thống: Đoạn đường cao tốc có tốc độ tối đa cho phép: v_max = 60 km/h.</a:t>
            </a:r>
          </a:p>
          <a:p>
            <a:pPr>
              <a:spcBef>
                <a:spcPts val="600"/>
              </a:spcBef>
              <a:defRPr sz="1350"/>
            </a:pPr>
            <a:r>
              <a:t>• Khoảng cách 2 vạch mốc hiệu chuẩn trên mặt đường: s = 15 m.</a:t>
            </a:r>
          </a:p>
          <a:p>
            <a:pPr>
              <a:spcBef>
                <a:spcPts val="600"/>
              </a:spcBef>
              <a:defRPr sz="1350"/>
            </a:pPr>
            <a:r>
              <a:t>• Camera ghi hình chuẩn 30 fps (1 giây = 30 frames). Ô tô đi qua 2 vạch mất đúng 18 frames.</a:t>
            </a:r>
          </a:p>
          <a:p>
            <a:pPr>
              <a:spcBef>
                <a:spcPts val="600"/>
              </a:spcBef>
              <a:defRPr sz="1350"/>
            </a:pPr>
            <a:r>
              <a:t>---------------------------------------------------------------------------------------------------------</a:t>
            </a:r>
          </a:p>
          <a:p>
            <a:pPr>
              <a:spcBef>
                <a:spcPts val="600"/>
              </a:spcBef>
              <a:defRPr sz="1350"/>
            </a:pPr>
            <a:r>
              <a:t>YÊU CẦU TÍNH TOÁN &amp; RA QUYẾT ĐỊNH:</a:t>
            </a:r>
          </a:p>
          <a:p>
            <a:pPr>
              <a:spcBef>
                <a:spcPts val="600"/>
              </a:spcBef>
              <a:defRPr sz="1350"/>
            </a:pPr>
            <a:r>
              <a:t>1. Tính thời gian xe đi qua 2 vạch: Δt = 18 * (1/30) = 0,6 s</a:t>
            </a:r>
          </a:p>
          <a:p>
            <a:pPr>
              <a:spcBef>
                <a:spcPts val="600"/>
              </a:spcBef>
              <a:defRPr sz="1350"/>
            </a:pPr>
            <a:r>
              <a:t>2. Tính tốc độ của xe ra m/s: v = s / Δt = 15 / 0,6 = 25 m/s</a:t>
            </a:r>
          </a:p>
          <a:p>
            <a:pPr>
              <a:spcBef>
                <a:spcPts val="600"/>
              </a:spcBef>
              <a:defRPr sz="1350"/>
            </a:pPr>
            <a:r>
              <a:t>3. Đổi tốc độ sang km/h: v = 25 * 3,6 = 90 km/h</a:t>
            </a:r>
          </a:p>
          <a:p>
            <a:pPr>
              <a:spcBef>
                <a:spcPts val="600"/>
              </a:spcBef>
              <a:defRPr sz="1350" b="1">
                <a:solidFill>
                  <a:srgbClr val="C00000"/>
                </a:solidFill>
              </a:defRPr>
            </a:pPr>
            <a:r>
              <a:t>4. Quyết định của hệ thống AI: v (90 km/h) &gt; v_max (60 km/h) --&gt; VI PHẠM TỐC ĐỘ, PHẠT NGUỘI!</a:t>
            </a:r>
          </a:p>
        </p:txBody>
      </p:sp>
      <p:pic>
        <p:nvPicPr>
          <p:cNvPr id="6" name="Picture 5" descr="hinh_anh_camera_ai_do_toc_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980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VẬT LÍ 10 - CHƯƠNG II: ĐỘNG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TỔNG KẾT BÀI HỌC VÀ NHIỆM VỤ VỀ NHÀ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2060"/>
                </a:solidFill>
              </a:defRPr>
            </a:pPr>
            <a:r>
              <a:t>KIẾN THỨC TRỌNG TÂM</a:t>
            </a:r>
          </a:p>
          <a:p>
            <a:pPr>
              <a:spcBef>
                <a:spcPts val="800"/>
              </a:spcBef>
              <a:defRPr sz="1300"/>
            </a:pPr>
            <a:r>
              <a:t>1. Tốc độ trung bình: v_tb = s / t (quãng đường / thời gian).</a:t>
            </a:r>
          </a:p>
          <a:p>
            <a:pPr>
              <a:spcBef>
                <a:spcPts val="800"/>
              </a:spcBef>
              <a:defRPr sz="1300"/>
            </a:pPr>
            <a:r>
              <a:t>2. Tốc độ tức thời: tốc độ tại 1 thời điểm cụ thể.</a:t>
            </a:r>
          </a:p>
          <a:p>
            <a:pPr>
              <a:spcBef>
                <a:spcPts val="800"/>
              </a:spcBef>
              <a:defRPr sz="1300"/>
            </a:pPr>
            <a:r>
              <a:t>3. Vận tốc: v = d / Δt (đại lượng vectơ, có hướng và độ lớn).</a:t>
            </a:r>
          </a:p>
          <a:p>
            <a:pPr>
              <a:spcBef>
                <a:spcPts val="800"/>
              </a:spcBef>
              <a:defRPr sz="1300"/>
            </a:pPr>
            <a:r>
              <a:t>4. Ứng dụng AI: Số hóa hình ảnh video thành toạ độ và thời gian để tự động tính tốc độ giám sát giao thông.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C00000"/>
                </a:solidFill>
              </a:defRPr>
            </a:pPr>
            <a:r>
              <a:t>NHIỆM VỤ VỀ NHÀ &amp; DỰ ÁN</a:t>
            </a:r>
          </a:p>
          <a:p>
            <a:pPr>
              <a:spcBef>
                <a:spcPts val="1000"/>
              </a:spcBef>
              <a:defRPr sz="1300"/>
            </a:pPr>
            <a:r>
              <a:t>1. Hoàn thành bài tập SGK và Phiếu học tập số 2.</a:t>
            </a:r>
          </a:p>
          <a:p>
            <a:pPr>
              <a:spcBef>
                <a:spcPts val="1000"/>
              </a:spcBef>
              <a:defRPr sz="1300"/>
            </a:pPr>
            <a:r>
              <a:t>2. Dự án nhỏ: Hãy phác thảo ý tưởng lắp đặt hệ thống Camera AI cảnh báo tốc độ cho xe cộ trước cổng trường học vào giờ tan trường.</a:t>
            </a:r>
          </a:p>
          <a:p>
            <a:pPr>
              <a:spcBef>
                <a:spcPts val="1000"/>
              </a:spcBef>
              <a:defRPr sz="1300"/>
            </a:pPr>
            <a:r>
              <a:t>3. Chuẩn bị bài mới: Bài 6 - Thực hành đo tốc độ chuyển động.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