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0.jpg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822960"/>
            <a:ext cx="7619695" cy="502920"/>
          </a:xfrm>
          <a:prstGeom prst="roundRect">
            <a:avLst/>
          </a:prstGeom>
          <a:solidFill>
            <a:srgbClr val="13407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VẬT LÍ 10 — KẾT NỐI TRI THỨC VỚI CUỘC SỐNG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BÀI 1: NHẬP MÔN HÓA HỌC</a:t>
            </a:r>
          </a:p>
          <a:p>
            <a:pPr algn="ctr">
              <a:defRPr sz="2400">
                <a:solidFill>
                  <a:srgbClr val="8DA9C4"/>
                </a:solidFill>
                <a:latin typeface="Segoe UI"/>
              </a:defRPr>
            </a:pPr>
            <a:r>
              <a:t>Thời lượng: 01 tiết (45 phút)  •  Chuẩn Công văn 5512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46120"/>
            <a:ext cx="48764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520440"/>
            <a:ext cx="4846320" cy="201168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🎯 MỤC TIÊU TRỌNG TÂM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Đối tượng &amp; Vai trò Hóa học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2 Phương pháp nghiên cứu cốt lõi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3520440"/>
            <a:ext cx="4846320" cy="201168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⚡ ĐỔI MỚI NĂNG LỰC SỐ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Thiết kế Infographic (NLS 4.1.3)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Trải nghiệm AI Prompting (AI-V10)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DA9C4"/>
                </a:solidFill>
              </a:defRPr>
            </a:pPr>
            <a:r>
              <a:t>Giáo viên: Nhóm Chuyên môn Hóa học  •  Năm học: 2026 - 2027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YCCĐ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MỤC TIÊU BÀI HỌC CẦN ĐẠT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1. KIẾN THỨC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Nắm rõ đối tượng: Vận động của VẬT CHẤT &amp; NĂNG LƯỢNG.</a:t>
            </a:r>
          </a:p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Phân tích vai trò của Hóa học qua 4 cuộc Cách mạng công nghiệp.</a:t>
            </a:r>
          </a:p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Trình bày quy trình 2 phương pháp: Thực nghiệm &amp; Lí thuyết.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2. NĂNG LỰC ĐẶC THÙ &amp; SỐ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128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Tìm hiểu tự nhiên: Phân tích thí nghiệm rơi tự do chuẩn xác.</a:t>
            </a:r>
          </a:p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NLS 4.1.3: Thiết kế Infographic số tóm tắt lịch sử phát minh.</a:t>
            </a:r>
          </a:p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AI-V10: Thực hành câu lệnh Prompt đối thoại cùng nhà bác học.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HĐ 1 (5P)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KHỞI ĐỘNG: BÍ ẨN SỰ RƠI CỦA CÁC VẬT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TN 1: GIẤY PHẲNG &amp; SỎI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167128"/>
            <a:ext cx="19202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58_shap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221992"/>
            <a:ext cx="1810512" cy="22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2167128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Thả tờ giấy phẳng &amp; viên sỏi cùng lúc.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Kết quả: Sỏi rơi nhanh chạm đất trước, giấy rơi chậm.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949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TN 2: GIẤY VO TRÒN &amp; SỎI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167128"/>
            <a:ext cx="19202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59_shap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2221992"/>
            <a:ext cx="1810512" cy="2267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2167128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Vo tròn tờ giấy rồi thả cùng viên sỏi.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Kết quả: Cả hai chạm đất CÙNG MỘT LÚC!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64240" cy="14173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❓ MÂU THUẪN NHẬN THỨC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4184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solidFill>
                  <a:srgbClr val="0B2545"/>
                </a:solidFill>
                <a:latin typeface="Segoe UI"/>
              </a:defRPr>
            </a:pPr>
            <a:r>
              <a:t>•  Vì sao cùng khối lượng, vo tròn lại rơi nhanh hơn? Quan niệm Aristotle có đúng?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LỊCH SỬ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BƯỚC NGOẶT: ARISTOTLE VS GALILEI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ARISTOTLE (350 TCN)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192024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58_shap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1810512" cy="2907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0" y="2167128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Quan sát cảm tính đời thường.</a:t>
            </a:r>
          </a:p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Khẳng định: 'Vật nặng luôn rơi nhanh hơn vật nhẹ!'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94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GALILEO GALILEI (TK XVII)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67128"/>
            <a:ext cx="192024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59_shap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221992"/>
            <a:ext cx="1810512" cy="29077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0" y="2167128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Thực nghiệm Tháp nghiêng Pisa.</a:t>
            </a:r>
          </a:p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Chân lí: Không có sức cản không khí, MỌI VẬT RƠI NHƯ NHAU!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64240" cy="86868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💡 BÀI HỌC: Thực nghiệm khoa học là thước đo chân lí tối cao!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HĐ 2.1 (7P)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ĐỐI TƯỢNG NGHIÊN CỨU CỦA HÓA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1. THẾ GIỚI VẬT CHẤT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23774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05_shap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2267712" cy="1810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91840" y="2167128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_007_shape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2221992"/>
            <a:ext cx="2359152" cy="1810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2245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Dạng CHẤT: Hạt sơ cấp, nguyên tử, phân tử, vật thể.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Dạng TRƯỜNG: Trường hấp dẫn, điện từ trường.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2. CÁC DẠNG NĂNG LƯỢNG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67128"/>
            <a:ext cx="23774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_024_shape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21992"/>
            <a:ext cx="2267712" cy="18105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961120" y="2167128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lide_010_shape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2221992"/>
            <a:ext cx="2359152" cy="18105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2245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Cơ năng, Nhiệt năng, Điện năng, Quang năng.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Hệ thức Einstein: E = m · c² (c ≈ 3·10⁸ m/s).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CÁC CẤP ĐỘ PHẠM VI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1. VI MÔ (Micro)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31089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06_shap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2999232" cy="1993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36168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Kích thước: 10⁻¹⁸ m ➔ 10⁻⁹ m.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Hạt sơ cấp, electron, nguyên tử.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2. VĨ MÔ (Macro)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167128"/>
            <a:ext cx="31089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25_shape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221992"/>
            <a:ext cx="2999232" cy="19933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6280" y="436168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Kích thước: 10⁻⁶ m ➔ 10⁷ m.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Vật thể đời sống, Trái Đất.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3. SIÊU VĨ MÔ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67128"/>
            <a:ext cx="31089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lide_004_shape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221992"/>
            <a:ext cx="2999232" cy="19933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436168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Kích thước: &gt; 10⁹ m.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Hệ Mặt Trời, Thiên hà, Vũ trụ.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MỤC TIÊU MÔN HÓA HỌC Ở TRƯỜNG THPT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2179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852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3 TRỤ CỘT MỤC TIÊU CHÍNH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1. Hình thành Thế giới quan khoa học &amp; nhận thức đúng bản chất tự nhiên.</a:t>
            </a:r>
          </a:p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2. Phát triển Năng lực tìm hiểu tự nhiên &amp; kĩ năng thực nghiệm sáng tạo.</a:t>
            </a:r>
          </a:p>
          <a:p>
            <a:pPr>
              <a:spcAft>
                <a:spcPts val="14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3. Định hướng nghề nghiệp trong kỉ nguyên Công nghệ số &amp; Trí tuệ nhân tạo (AI).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463040"/>
            <a:ext cx="45720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5727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ỨNG DỤNG THỰC TIỄN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167128"/>
            <a:ext cx="42062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lide_025_shap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2221992"/>
            <a:ext cx="4096512" cy="17190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223760" y="4178808"/>
            <a:ext cx="42062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25_shape_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4233672"/>
            <a:ext cx="4096512" cy="1810512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HĐ 2.2 (10P)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LỊCH SỬ PHÁT TRIỂN VẬT LÍ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1. TIỀN VẬT LÍ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31089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58_shap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2999232" cy="17190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087368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350 TCN ➔ Thế kỉ XVI.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Aristotle, Archimedes.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Quan sát cảm tính.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2. CỔ ĐIỂN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167128"/>
            <a:ext cx="31089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59_shap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221992"/>
            <a:ext cx="2999232" cy="17190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6280" y="4087368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TK XVII ➔ Cuối TK XIX.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Galilei, Newton, Maxwell.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Phương pháp Thực nghiệm.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3. HIỆN ĐẠI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67128"/>
            <a:ext cx="31089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lide_024_shape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221992"/>
            <a:ext cx="2999232" cy="17190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4087368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Đầu TK XX ➔ Nay.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Planck, Einstein, Bohr.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Lượng tử &amp; Tương đối.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PHƯƠNG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HAI PHƯƠNG PHÁP NGHIÊN CỨU VẬT LÍ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1. PHƯƠNG PHÁP THỰC NGHIỆM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1. Xác định vấn đề nghiên cứu.</a:t>
            </a:r>
          </a:p>
          <a:p>
            <a:pPr>
              <a:spcAft>
                <a:spcPts val="6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2. Quan sát &amp; Thu thập thông tin.</a:t>
            </a:r>
          </a:p>
          <a:p>
            <a:pPr>
              <a:spcAft>
                <a:spcPts val="6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3. Đưa ra dự đoán (Giả thuyết).</a:t>
            </a:r>
          </a:p>
          <a:p>
            <a:pPr>
              <a:spcAft>
                <a:spcPts val="6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4. Làm Thí nghiệm kiểm tra.</a:t>
            </a:r>
          </a:p>
          <a:p>
            <a:pPr>
              <a:spcAft>
                <a:spcPts val="6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5. Phân tích &amp; Rút ra Kết luận.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94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2. PHƯƠNG PHÁP MÔ HÌNH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6712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lide_061_shap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221992"/>
            <a:ext cx="1536192" cy="15361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29600" y="2167128"/>
            <a:ext cx="32004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63_shap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221992"/>
            <a:ext cx="3090672" cy="1536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3904488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Mô hình vật chất: Quả địa cầu.</a:t>
            </a:r>
          </a:p>
          <a:p>
            <a:pPr>
              <a:spcAft>
                <a:spcPts val="4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Mô hình lí thuyết: Chất điểm ô tô.</a:t>
            </a:r>
          </a:p>
          <a:p>
            <a:pPr>
              <a:spcAft>
                <a:spcPts val="4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Mô hình toán học: Vectơ lực, phương trình.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64240" cy="8686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545"/>
                </a:solidFill>
              </a:defRPr>
            </a:pPr>
            <a:r>
              <a:t>⚡ Lí thuyết định hướng — Thực nghiệm là thước đo chân lí tối cao!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HĐ 2.3 (8P)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VẬT LÍ VỚI CMCN 1.0 &amp;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CMCN 1.0: CƠ GIỚI HÓA (TK XVIII)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23774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37_shap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2267712" cy="1810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91840" y="2167128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_039_shape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2221992"/>
            <a:ext cx="2359152" cy="1810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2245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Nhiệt học &amp; Động cơ hơi nước James Watt.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Cơ giới hóa sản xuất, tàu hỏa ra đời.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CMCN 2.0: ĐIỆN KHÍ HÓA (TK XIX)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67128"/>
            <a:ext cx="23774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_041_shap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21992"/>
            <a:ext cx="2267712" cy="18105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961120" y="2167128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lide_045_shape_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2221992"/>
            <a:ext cx="2359152" cy="18105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2245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Điện từ học &amp; Máy phát điện, động cơ điện.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Chiếu sáng đô thị, sản xuất dây chuyền.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KỈ NGUYÊN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VẬT LÍ VỚI CMCN 3.0 &amp;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CMCN 3.0: TỰ ĐỘNG HÓA (TK XX)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23774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47_shap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2267712" cy="1810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91840" y="2167128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_050_shape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2221992"/>
            <a:ext cx="2359152" cy="1810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2245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Hóa học Bán dẫn &amp; Bóng Transistor (1947).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Máy tính điện tử, Vi mạch vi xử lý &amp; Internet.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CMCN 4.0: THÔNG MINH HÓA (TK XXI)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67128"/>
            <a:ext cx="23774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_052_shape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21992"/>
            <a:ext cx="2267712" cy="18105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961120" y="2167128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lide_055_shape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2221992"/>
            <a:ext cx="2359152" cy="18105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2245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Hóa học Lượng tử &amp; Công nghệ Nano.</a:t>
            </a:r>
          </a:p>
          <a:p>
            <a:pPr>
              <a:spcAft>
                <a:spcPts val="10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Trí tuệ nhân tạo (AI), Máy tính lượng tử.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ỨNG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ỨNG DỤNG VẬT LÍ &amp; BẢO VỆ MÔI TRƯỜNG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1. Y TẾ HIỆN ĐẠI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31089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25_shap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2999232" cy="1901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27024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Máy chụp MRI, CT-Scan.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Laser phẫu thuật mắt.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2. NĂNG LƯỢNG XANH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167128"/>
            <a:ext cx="31089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25_shape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221992"/>
            <a:ext cx="2999232" cy="1901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6280" y="427024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Pin mặt trời quang điện.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Tuabin gió, Nhiệt hạch.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4747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72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545"/>
                </a:solidFill>
                <a:latin typeface="Segoe UI"/>
              </a:defRPr>
            </a:pPr>
            <a:r>
              <a:t>3. MÔI TRƯỜNG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67128"/>
            <a:ext cx="31089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lide_122_shap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221992"/>
            <a:ext cx="2999232" cy="19019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427024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Giảm phát thải CO2.</a:t>
            </a:r>
          </a:p>
          <a:p>
            <a:pPr>
              <a:spcAft>
                <a:spcPts val="800"/>
              </a:spcAft>
              <a:defRPr sz="2400">
                <a:solidFill>
                  <a:srgbClr val="1E293B"/>
                </a:solidFill>
                <a:latin typeface="Segoe UI"/>
              </a:defRPr>
            </a:pPr>
            <a:r>
              <a:t>•  Xử lý rác thải điện tử.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HĐ 3 (10P)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LUYỆN TẬP: TRẮC NGHIỆM CỦNG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CÂU 1: Đối tượng nghiên cứu chủ yếu của môn Hóa học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303520" cy="640080"/>
          </a:xfrm>
          <a:prstGeom prst="roundRect">
            <a:avLst/>
          </a:prstGeom>
          <a:solidFill>
            <a:srgbClr val="D1FAE5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 A. Vật chất và Năng lượng. [ĐÚNG ✔]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12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 B. Sự biến đổi chất hóa học.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1094415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CÂU 2: Nhà bác học mở đầu Phương pháp Thực nghiệm khoa học là: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303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 A. Aristotle.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640080"/>
          </a:xfrm>
          <a:prstGeom prst="roundRect">
            <a:avLst/>
          </a:prstGeom>
          <a:solidFill>
            <a:srgbClr val="D1FAE5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 C. Galileo Galilei. [ĐÚNG ✔]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11094415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2545"/>
                </a:solidFill>
              </a:defRPr>
            </a:pPr>
            <a:r>
              <a:t>CÂU 3: Phát minh là nền tảng khởi đầu của cuộc Cách mạng công nghiệp lần 3 (3.0):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5303520" cy="640080"/>
          </a:xfrm>
          <a:prstGeom prst="roundRect">
            <a:avLst/>
          </a:prstGeom>
          <a:solidFill>
            <a:srgbClr val="D1FAE5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 B. Bóng bán dẫn (Transistor). [ĐÚNG ✔]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32120"/>
            <a:ext cx="5212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 A. Động cơ hơi nước.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4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468880" cy="530352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HĐ 4 (5P)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VẬN DỤNG &amp; NHIỆM VỤ SỐ TỰ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VẬT LÍ 10 — BÀI 1: NHẬP MÔN HÓA HỌC | KẾT NỐI TRI THỨC VỚI CUỘC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1. THIẾT KẾ SỐ (NLS 4.1.3)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025_shap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21992"/>
            <a:ext cx="1536192" cy="15361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2167128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Thiết kế 01 Infographic A4 trên Canva / XMind.</a:t>
            </a:r>
          </a:p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Tóm tắt 4 cuộc Cách mạng công nghiệp gắn với phát minh Hóa học.</a:t>
            </a:r>
          </a:p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Nộp file ảnh lên link Padlet lớp.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2. HƯỚNG NGHIỆP AI (AI-V10)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67128"/>
            <a:ext cx="1645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_053_shape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221992"/>
            <a:ext cx="1536192" cy="1536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2167128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Dùng AI với Prompt tra cứu 3 ngành nghề tương lai kết hợp Hóa học &amp; AI.</a:t>
            </a:r>
          </a:p>
          <a:p>
            <a:pPr>
              <a:spcAft>
                <a:spcPts val="1200"/>
              </a:spcAft>
              <a:defRPr sz="2600">
                <a:solidFill>
                  <a:srgbClr val="1E293B"/>
                </a:solidFill>
                <a:latin typeface="Segoe UI"/>
              </a:defRPr>
            </a:pPr>
            <a:r>
              <a:t>•  Viết thu hoạch 250 từ định hướng nghề nghiệp bản thân.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  <a:latin typeface="Segoe UI"/>
              </a:defRPr>
            </a:pPr>
            <a:r>
              <a:t>TỔNG KẾT BÀI HỌC &amp; ĐIỀU HƯỚNG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4846320" cy="141732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🔑 VẬT CHẤT &amp; NĂNG LƯỢNG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Đối tượng nghiên cứu xuyên suốt mọi cấp độ.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4846320" cy="141732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🔑 PHƯƠNG PHÁP THỰC NGHIỆM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Thước đo chân lí tối cao của khoa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4846320" cy="141732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🔑 NỀN TẢNG CÔNG NGHỆ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Gốc rễ của 4 cuộc CMCN, Bán dẫn &amp;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4846320" cy="141732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🔑 TƯ DUY KHOA HỌC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Trung thực, tôn trọng sự thật &amp; bảo vệ môi trường.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29200"/>
            <a:ext cx="9966960" cy="1005840"/>
          </a:xfrm>
          <a:prstGeom prst="roundRect">
            <a:avLst/>
          </a:prstGeom>
          <a:solidFill>
            <a:srgbClr val="13407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📖 ĐỌC TRƯỚC BÀI 2: CÁC QUY TẮC AN TOÀN TRONG PHÒNG THỰC HÀNH VẬT LÍ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